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600" b="1">
                <a:solidFill>
                  <a:srgbClr val="00FFAA"/>
                </a:solidFill>
                <a:latin typeface="Segoe UI"/>
              </a:defRPr>
            </a:pPr>
            <a:r>
              <a:t>🤖 AI CODING TOOLS</a:t>
            </a:r>
            <a:br/>
            <a:r>
              <a:t>CLAUDE CODE vs GEMINI CLI vs ANTIGRAVITY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0">
                <a:solidFill>
                  <a:srgbClr val="F0F0F0"/>
                </a:solidFill>
                <a:latin typeface="Segoe UI"/>
              </a:defRPr>
            </a:pPr>
            <a:r>
              <a:t>Hướng dẫn dành cho người mới bắt đầu • Data Analyst Team •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800">
                <a:solidFill>
                  <a:srgbClr val="00C8FF"/>
                </a:solidFill>
                <a:latin typeface="Segoe UI"/>
              </a:defRPr>
            </a:pPr>
            <a:r>
              <a:t>PHẦN 1 — 3 CÔNG CỤ AI LÀ GÌ?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 b="0">
                <a:solidFill>
                  <a:srgbClr val="F0F0F0"/>
                </a:solidFill>
                <a:latin typeface="Segoe UI"/>
              </a:defRPr>
            </a:pPr>
            <a:r>
              <a:t>Trong thế giới phát triển phần mềm, ba trợ lý AI CLI đang nổi bật nhất hiện nay hỗ trợ DA làm việc hiệu quả theo những cách khác nhau.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>
                <a:solidFill>
                  <a:srgbClr val="00FFAA"/>
                </a:solidFill>
                <a:latin typeface="Segoe UI"/>
              </a:defRPr>
            </a:pPr>
            <a:r>
              <a:t>🟢 Claude Code (Anthropic)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0">
                <a:solidFill>
                  <a:srgbClr val="F0F0F0"/>
                </a:solidFill>
                <a:latin typeface="Segoe UI"/>
              </a:defRPr>
            </a:pPr>
            <a:r>
              <a:t>Agent tự hành. Lập luận độc lập cực tốt, ít cần can thiệp. Phụ thuộc vào file CLAUDE.md để ghi nhớ nội quy.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18288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>
                <a:solidFill>
                  <a:srgbClr val="3296FF"/>
                </a:solidFill>
                <a:latin typeface="Segoe UI"/>
              </a:defRPr>
            </a:pPr>
            <a:r>
              <a:t>🔵 Gemini CLI (Google)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228600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0">
                <a:solidFill>
                  <a:srgbClr val="F0F0F0"/>
                </a:solidFill>
                <a:latin typeface="Segoe UI"/>
              </a:defRPr>
            </a:pPr>
            <a:r>
              <a:t>Gọn nhẹ, scripting &amp; API. Đọc file GEMINI.md tại chỗ, giải quyết tức thì, không có bộ nhớ dài hạn chuyên biệt.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8288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>
                <a:solidFill>
                  <a:srgbClr val="C864FF"/>
                </a:solidFill>
                <a:latin typeface="Segoe UI"/>
              </a:defRPr>
            </a:pPr>
            <a:r>
              <a:t>🟣 AntiGravity (Google DeepMind)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228600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0">
                <a:solidFill>
                  <a:srgbClr val="F0F0F0"/>
                </a:solidFill>
                <a:latin typeface="Segoe UI"/>
              </a:defRPr>
            </a:pPr>
            <a:r>
              <a:t>Hybrid Interface + Autonomous Agent. Tự học và nhớ qua Knowledge Items. Có Browser Subagent và hệ thống báo cáo Artifacts mượt mà.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800">
                <a:solidFill>
                  <a:srgbClr val="00C8FF"/>
                </a:solidFill>
                <a:latin typeface="Segoe UI"/>
              </a:defRPr>
            </a:pPr>
            <a:r>
              <a:t>PHẦN 2 — SO SÁNH TÍNH NĂNG CHÍNH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103120"/>
                <a:gridCol w="2103120"/>
                <a:gridCol w="2194560"/>
              </a:tblGrid>
              <a:tr h="73152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00FFAA"/>
                          </a:solidFill>
                          <a:latin typeface="Segoe UI"/>
                        </a:defRPr>
                      </a:pPr>
                      <a:r>
                        <a:t>Tiêu Chí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FFAA"/>
                          </a:solidFill>
                          <a:latin typeface="Segoe UI"/>
                        </a:defRPr>
                      </a:pPr>
                      <a:r>
                        <a:t>Claude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FFAA"/>
                          </a:solidFill>
                          <a:latin typeface="Segoe UI"/>
                        </a:defRPr>
                      </a:pPr>
                      <a:r>
                        <a:t>Gemini CLI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FFAA"/>
                          </a:solidFill>
                          <a:latin typeface="Segoe UI"/>
                        </a:defRPr>
                      </a:pPr>
                      <a:r>
                        <a:t>AntiGravity</a:t>
                      </a:r>
                    </a:p>
                  </a:txBody>
                  <a:tcPr/>
                </a:tc>
              </a:tr>
              <a:tr h="73152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F0F0F0"/>
                          </a:solidFill>
                          <a:latin typeface="Segoe UI"/>
                        </a:defRPr>
                      </a:pPr>
                      <a:r>
                        <a:t>Bộ nhớ dài hạn</a:t>
                      </a:r>
                    </a:p>
                    <a:p>
                      <a:pPr algn="l">
                        <a:defRPr sz="1400">
                          <a:solidFill>
                            <a:srgbClr val="F0F0F0"/>
                          </a:solidFill>
                          <a:latin typeface="Segoe UI"/>
                        </a:defRPr>
                      </a:pPr>
                      <a:r>
                        <a:t>(Long-term memory)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0F0F0"/>
                          </a:solidFill>
                          <a:latin typeface="Segoe UI"/>
                        </a:defRPr>
                      </a:pPr>
                      <a:r>
                        <a:t>🔶 Thủ công</a:t>
                      </a:r>
                    </a:p>
                    <a:p>
                      <a:pPr algn="ctr">
                        <a:defRPr sz="1400">
                          <a:solidFill>
                            <a:srgbClr val="F0F0F0"/>
                          </a:solidFill>
                          <a:latin typeface="Segoe UI"/>
                        </a:defRPr>
                      </a:pPr>
                      <a:r>
                        <a:t>Phải ghi 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0F0F0"/>
                          </a:solidFill>
                          <a:latin typeface="Segoe UI"/>
                        </a:defRPr>
                      </a:pPr>
                      <a:r>
                        <a:t>❌ Không có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0F0F0"/>
                          </a:solidFill>
                          <a:latin typeface="Segoe UI"/>
                        </a:defRPr>
                      </a:pPr>
                      <a:r>
                        <a:t>✅ Tự động qua KIs</a:t>
                      </a:r>
                    </a:p>
                  </a:txBody>
                  <a:tcPr/>
                </a:tc>
              </a:tr>
              <a:tr h="73152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F0F0F0"/>
                          </a:solidFill>
                          <a:latin typeface="Segoe UI"/>
                        </a:defRPr>
                      </a:pPr>
                      <a:r>
                        <a:t>Trình bày tự động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0F0F0"/>
                          </a:solidFill>
                          <a:latin typeface="Segoe UI"/>
                        </a:defRPr>
                      </a:pPr>
                      <a:r>
                        <a:t>❌ Text trên terminal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0F0F0"/>
                          </a:solidFill>
                          <a:latin typeface="Segoe UI"/>
                        </a:defRPr>
                      </a:pPr>
                      <a:r>
                        <a:t>❌ Text trên terminal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0F0F0"/>
                          </a:solidFill>
                          <a:latin typeface="Segoe UI"/>
                        </a:defRPr>
                      </a:pPr>
                      <a:r>
                        <a:t>✅ Markdown, Slide, </a:t>
                      </a:r>
                    </a:p>
                    <a:p>
                      <a:pPr algn="ctr">
                        <a:defRPr sz="1400">
                          <a:solidFill>
                            <a:srgbClr val="F0F0F0"/>
                          </a:solidFill>
                          <a:latin typeface="Segoe UI"/>
                        </a:defRPr>
                      </a:pPr>
                      <a:r>
                        <a:t>Biểu đồ trực quan</a:t>
                      </a:r>
                    </a:p>
                  </a:txBody>
                  <a:tcPr/>
                </a:tc>
              </a:tr>
              <a:tr h="73152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F0F0F0"/>
                          </a:solidFill>
                          <a:latin typeface="Segoe UI"/>
                        </a:defRPr>
                      </a:pPr>
                      <a:r>
                        <a:t>Điều khiển trình duyệt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0F0F0"/>
                          </a:solidFill>
                          <a:latin typeface="Segoe UI"/>
                        </a:defRPr>
                      </a:pPr>
                      <a:r>
                        <a:t>❌ Không tích hợp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0F0F0"/>
                          </a:solidFill>
                          <a:latin typeface="Segoe UI"/>
                        </a:defRPr>
                      </a:pPr>
                      <a:r>
                        <a:t>❌ Không có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0F0F0"/>
                          </a:solidFill>
                          <a:latin typeface="Segoe UI"/>
                        </a:defRPr>
                      </a:pPr>
                      <a:r>
                        <a:t>✅ Browser Subagent</a:t>
                      </a:r>
                    </a:p>
                  </a:txBody>
                  <a:tcPr/>
                </a:tc>
              </a:tr>
              <a:tr h="73152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F0F0F0"/>
                          </a:solidFill>
                          <a:latin typeface="Segoe UI"/>
                        </a:defRPr>
                      </a:pPr>
                      <a:r>
                        <a:t>Hỗ trợ MCP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0F0F0"/>
                          </a:solidFill>
                          <a:latin typeface="Segoe UI"/>
                        </a:defRPr>
                      </a:pPr>
                      <a:r>
                        <a:t>✅ Rất mạnh (Anthropic chuẩn)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0F0F0"/>
                          </a:solidFill>
                          <a:latin typeface="Segoe UI"/>
                        </a:defRPr>
                      </a:pPr>
                      <a:r>
                        <a:t>🔶 Hạn chế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0F0F0"/>
                          </a:solidFill>
                          <a:latin typeface="Segoe UI"/>
                        </a:defRPr>
                      </a:pPr>
                      <a:r>
                        <a:t>✅ Có hỗ trợ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800">
                <a:solidFill>
                  <a:srgbClr val="00C8FF"/>
                </a:solidFill>
                <a:latin typeface="Segoe UI"/>
              </a:defRPr>
            </a:pPr>
            <a:r>
              <a:t>PHẦN 3 — 4 TÍNH NĂNG ĐỈNH CAO CỦA ANTIGRAVITY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 b="1">
                <a:solidFill>
                  <a:srgbClr val="FFCC00"/>
                </a:solidFill>
                <a:latin typeface="Segoe UI"/>
              </a:defRPr>
            </a:pPr>
            <a:r>
              <a:t>1. Autonomous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0">
                <a:solidFill>
                  <a:srgbClr val="F0F0F0"/>
                </a:solidFill>
                <a:latin typeface="Segoe UI"/>
              </a:defRPr>
            </a:pPr>
            <a:r>
              <a:t>Tự lập kế hoạch, chạy lệnh, đọc/ghi file, tạo ảnh báo cáo mà không cần can thiệp.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 b="1">
                <a:solidFill>
                  <a:srgbClr val="FFCC00"/>
                </a:solidFill>
                <a:latin typeface="Segoe UI"/>
              </a:defRPr>
            </a:pPr>
            <a:r>
              <a:t>2. Bộ não Knowledge Items (KIs)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9184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0">
                <a:solidFill>
                  <a:srgbClr val="F0F0F0"/>
                </a:solidFill>
                <a:latin typeface="Segoe UI"/>
              </a:defRPr>
            </a:pPr>
            <a:r>
              <a:t>Học từ thói quen cũ. Lưu naming convention, cách sửa lỗi vào KIs để dùng tự động cho session sau.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0972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 b="1">
                <a:solidFill>
                  <a:srgbClr val="FFCC00"/>
                </a:solidFill>
                <a:latin typeface="Segoe UI"/>
              </a:defRPr>
            </a:pPr>
            <a:r>
              <a:t>3. Browser Subagent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46304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0">
                <a:solidFill>
                  <a:srgbClr val="F0F0F0"/>
                </a:solidFill>
                <a:latin typeface="Segoe UI"/>
              </a:defRPr>
            </a:pPr>
            <a:r>
              <a:t>Điều khiển trình duyệt ngầm, click, cuộn, thu thập Data, ghi video webp hoàn toàn tự động.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9260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 b="1">
                <a:solidFill>
                  <a:srgbClr val="FFCC00"/>
                </a:solidFill>
                <a:latin typeface="Segoe UI"/>
              </a:defRPr>
            </a:pPr>
            <a:r>
              <a:t>4. Báo cáo Artifacts Chuyên nghiệp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29184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0">
                <a:solidFill>
                  <a:srgbClr val="F0F0F0"/>
                </a:solidFill>
                <a:latin typeface="Segoe UI"/>
              </a:defRPr>
            </a:pPr>
            <a:r>
              <a:t>Render báo cáo Markdown đẹp mắt, bảng biểu, sơ đồ Mermaid, Carousel. Giúp handover tuyệt vời.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800">
                <a:solidFill>
                  <a:srgbClr val="00C8FF"/>
                </a:solidFill>
                <a:latin typeface="Segoe UI"/>
              </a:defRPr>
            </a:pPr>
            <a:r>
              <a:t>PHẦN 4 — MCP LÀ GÌ? TIPS THỰC CHIẾN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>
                <a:solidFill>
                  <a:srgbClr val="FF00FF"/>
                </a:solidFill>
                <a:latin typeface="Segoe UI"/>
              </a:defRPr>
            </a:pPr>
            <a:r>
              <a:t>🔌 MCP (Model Context Protocol)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0">
                <a:solidFill>
                  <a:srgbClr val="F0F0F0"/>
                </a:solidFill>
                <a:latin typeface="Segoe UI"/>
              </a:defRPr>
            </a:pPr>
            <a:r>
              <a:t>Chuẩn kết nối mở (như ổ cắm đa năng). Giúp AI cắm vào BigQuery, GitHub, Notion, Slack.</a:t>
            </a:r>
            <a:br/>
            <a:r>
              <a:t>Ví dụ: 'Truy vấn BigQuery doanh thu T3 và gửi report qua Notion/Slack' → AI tự làm từ A-Z.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>
                <a:solidFill>
                  <a:srgbClr val="FFCC00"/>
                </a:solidFill>
                <a:latin typeface="Segoe UI"/>
              </a:defRPr>
            </a:pPr>
            <a:r>
              <a:t>💡 TIPS CHO DATALYS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0">
                <a:solidFill>
                  <a:srgbClr val="F0F0F0"/>
                </a:solidFill>
                <a:latin typeface="Segoe UI"/>
              </a:defRPr>
            </a:pPr>
            <a:r>
              <a:t>• Prompt thẩm mỹ: Thêm 'Premium design, Modern typography' để output đẹp.</a:t>
            </a:r>
            <a:br/>
            <a:r>
              <a:t>• Kích hoạt KIs: Chủ động nhắc AI lưu pattern vào KIs.</a:t>
            </a:r>
            <a:br/>
            <a:r>
              <a:t>• _GEMINI.md cục bộ: Hướng dẫn riêng cho project.</a:t>
            </a:r>
            <a:br/>
            <a:r>
              <a:t>• Built-in model: Chạy tốt nhất với model tích hợp của hệ thống Agent.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800">
                <a:solidFill>
                  <a:srgbClr val="00C8FF"/>
                </a:solidFill>
                <a:latin typeface="Segoe UI"/>
              </a:defRPr>
            </a:pPr>
            <a:r>
              <a:t>🎯 ỨNG DỤNG MỚI: CHATBOT INSIGHT TRÊN GOOGLE CHAT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 b="1">
                <a:solidFill>
                  <a:srgbClr val="00FFAA"/>
                </a:solidFill>
                <a:latin typeface="Segoe UI"/>
              </a:defRPr>
            </a:pPr>
            <a:r>
              <a:t>Hệ Thống: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09728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 b="0">
                <a:solidFill>
                  <a:srgbClr val="F0F0F0"/>
                </a:solidFill>
                <a:latin typeface="Segoe UI"/>
              </a:defRPr>
            </a:pPr>
            <a:r>
              <a:t>Sử dụng Google Pub/Sub (host local 24/7 chờ kết nối).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 b="1">
                <a:solidFill>
                  <a:srgbClr val="FF5555"/>
                </a:solidFill>
                <a:latin typeface="Segoe UI"/>
              </a:defRPr>
            </a:pPr>
            <a:r>
              <a:t>Concept Hoạt Động (User Workflow):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500" b="1">
                <a:solidFill>
                  <a:srgbClr val="00C8FF"/>
                </a:solidFill>
                <a:latin typeface="Segoe UI"/>
              </a:defRPr>
            </a:pPr>
            <a:r>
              <a:t>1️⃣ Query (Truy vấn):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2194560"/>
            <a:ext cx="6126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0">
                <a:solidFill>
                  <a:srgbClr val="F0F0F0"/>
                </a:solidFill>
                <a:latin typeface="Segoe UI"/>
              </a:defRPr>
            </a:pPr>
            <a:r>
              <a:t>Người dùng tag tên Bot trên group chat.</a:t>
            </a:r>
            <a:br/>
            <a:r>
              <a:t>VD: @BOT_INSIGHT: Biến động doanh thu tháng này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500" b="1">
                <a:solidFill>
                  <a:srgbClr val="00C8FF"/>
                </a:solidFill>
                <a:latin typeface="Segoe UI"/>
              </a:defRPr>
            </a:pPr>
            <a:r>
              <a:t>2️⃣ Acknowledge: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2834640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0">
                <a:solidFill>
                  <a:srgbClr val="F0F0F0"/>
                </a:solidFill>
                <a:latin typeface="Segoe UI"/>
              </a:defRPr>
            </a:pPr>
            <a:r>
              <a:t>Bot lắng nghe, lập tức phản hồi 'Đợi tí nhé sếp...' để ghi nhận request.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83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500" b="1">
                <a:solidFill>
                  <a:srgbClr val="00C8FF"/>
                </a:solidFill>
                <a:latin typeface="Segoe UI"/>
              </a:defRPr>
            </a:pPr>
            <a:r>
              <a:t>3️⃣ Process: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3383280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0">
                <a:solidFill>
                  <a:srgbClr val="F0F0F0"/>
                </a:solidFill>
                <a:latin typeface="Segoe UI"/>
              </a:defRPr>
            </a:pPr>
            <a:r>
              <a:t>Bot tự động query data từ Dremio, phân tích và trích xuất Insight.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931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500" b="1">
                <a:solidFill>
                  <a:srgbClr val="00C8FF"/>
                </a:solidFill>
                <a:latin typeface="Segoe UI"/>
              </a:defRPr>
            </a:pPr>
            <a:r>
              <a:t>4️⃣ Feedback: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393192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0">
                <a:solidFill>
                  <a:srgbClr val="F0F0F0"/>
                </a:solidFill>
                <a:latin typeface="Segoe UI"/>
              </a:defRPr>
            </a:pPr>
            <a:r>
              <a:t>Bot tổng hợp báo cáo và trả lời trực tiếp trong chính thread đó trên Google Chat.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